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3B5AE-5747-4B33-B414-5400849F2743}" type="datetimeFigureOut">
              <a:rPr lang="en-CA" smtClean="0"/>
              <a:t>2025-12-04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909573-747B-4C74-A65E-43E070B903EE}" type="slidenum">
              <a:rPr lang="en-CA" smtClean="0"/>
              <a:t>‹#›</a:t>
            </a:fld>
            <a:endParaRPr lang="en-CA"/>
          </a:p>
        </p:txBody>
      </p:sp>
    </p:spTree>
    <p:extLst>
      <p:ext uri="{BB962C8B-B14F-4D97-AF65-F5344CB8AC3E}">
        <p14:creationId xmlns:p14="http://schemas.microsoft.com/office/powerpoint/2010/main" val="1873443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and most popular AI LLMs used today are:</a:t>
            </a:r>
          </a:p>
          <a:p>
            <a:endParaRPr lang="en-US" dirty="0"/>
          </a:p>
          <a:p>
            <a:r>
              <a:rPr lang="en-US" dirty="0"/>
              <a:t>ChatGPT by OpenAI</a:t>
            </a:r>
          </a:p>
          <a:p>
            <a:r>
              <a:rPr lang="en-US" dirty="0"/>
              <a:t>Claude by Anthropic</a:t>
            </a:r>
          </a:p>
          <a:p>
            <a:r>
              <a:rPr lang="en-US" dirty="0"/>
              <a:t>Gemini by Google</a:t>
            </a:r>
          </a:p>
          <a:p>
            <a:r>
              <a:rPr lang="en-US" dirty="0"/>
              <a:t>Grok by </a:t>
            </a:r>
            <a:r>
              <a:rPr lang="en-US" dirty="0" err="1"/>
              <a:t>xAI</a:t>
            </a:r>
            <a:endParaRPr lang="en-US" dirty="0"/>
          </a:p>
          <a:p>
            <a:r>
              <a:rPr lang="en-US" dirty="0" err="1"/>
              <a:t>Deepseek</a:t>
            </a:r>
            <a:r>
              <a:rPr lang="en-US" dirty="0"/>
              <a:t> by Hangzhou </a:t>
            </a:r>
            <a:r>
              <a:rPr lang="en-US" dirty="0" err="1"/>
              <a:t>Deepseek</a:t>
            </a:r>
            <a:endParaRPr lang="en-US" dirty="0"/>
          </a:p>
          <a:p>
            <a:endParaRPr lang="en-US" dirty="0"/>
          </a:p>
          <a:p>
            <a:r>
              <a:rPr lang="en-US" dirty="0"/>
              <a:t>Most AI LLMs use Reinforcement Learning from Human Feedback (RLHF), where the AI is trained on users rating the responses as good or bad. But </a:t>
            </a:r>
            <a:r>
              <a:rPr lang="en-US" dirty="0" err="1"/>
              <a:t>Anthropic’s</a:t>
            </a:r>
            <a:r>
              <a:rPr lang="en-US" dirty="0"/>
              <a:t> Claude is trained using constitutional AI and RLHF. Claude was trained on a set of guiding principles that influence and guide its responses.</a:t>
            </a:r>
            <a:endParaRPr lang="en-CA" dirty="0"/>
          </a:p>
        </p:txBody>
      </p:sp>
      <p:sp>
        <p:nvSpPr>
          <p:cNvPr id="4" name="Slide Number Placeholder 3"/>
          <p:cNvSpPr>
            <a:spLocks noGrp="1"/>
          </p:cNvSpPr>
          <p:nvPr>
            <p:ph type="sldNum" sz="quarter" idx="5"/>
          </p:nvPr>
        </p:nvSpPr>
        <p:spPr/>
        <p:txBody>
          <a:bodyPr/>
          <a:lstStyle/>
          <a:p>
            <a:fld id="{C8909573-747B-4C74-A65E-43E070B903EE}" type="slidenum">
              <a:rPr lang="en-CA" smtClean="0"/>
              <a:t>2</a:t>
            </a:fld>
            <a:endParaRPr lang="en-CA"/>
          </a:p>
        </p:txBody>
      </p:sp>
    </p:spTree>
    <p:extLst>
      <p:ext uri="{BB962C8B-B14F-4D97-AF65-F5344CB8AC3E}">
        <p14:creationId xmlns:p14="http://schemas.microsoft.com/office/powerpoint/2010/main" val="2206280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A crucial component of testing AI is AI red teaming. It’s an adversarial testing process used to expose and uncover vulnerabilities in AI systems. The purpose is to emulate, mimic, predict and expose fundamental flaws in models, training data or outputs that attackers may expose. AI Red Teams also take into consideration the </a:t>
            </a:r>
            <a:r>
              <a:rPr lang="en-US" sz="1200" b="0" i="0" u="none" strike="noStrike" kern="1200" dirty="0" err="1">
                <a:solidFill>
                  <a:schemeClr val="tx1"/>
                </a:solidFill>
                <a:effectLst/>
                <a:latin typeface="+mn-lt"/>
                <a:ea typeface="+mn-ea"/>
                <a:cs typeface="+mn-cs"/>
              </a:rPr>
              <a:t>behaviour</a:t>
            </a:r>
            <a:r>
              <a:rPr lang="en-US" sz="1200" b="0" i="0" u="none" strike="noStrike" kern="1200" dirty="0">
                <a:solidFill>
                  <a:schemeClr val="tx1"/>
                </a:solidFill>
                <a:effectLst/>
                <a:latin typeface="+mn-lt"/>
                <a:ea typeface="+mn-ea"/>
                <a:cs typeface="+mn-cs"/>
              </a:rPr>
              <a:t> of curious users who are testing the limits of what the AI may or may not assist them with.</a:t>
            </a:r>
            <a:endParaRPr lang="en-US" b="0" dirty="0">
              <a:effectLst/>
            </a:endParaRPr>
          </a:p>
          <a:p>
            <a:br>
              <a:rPr lang="en-US" b="0" dirty="0">
                <a:effectLst/>
              </a:rPr>
            </a:br>
            <a:endParaRPr lang="en-US" b="0" dirty="0">
              <a:effectLst/>
            </a:endParaRPr>
          </a:p>
          <a:p>
            <a:pPr rtl="0"/>
            <a:r>
              <a:rPr lang="en-US" sz="1200" b="0" i="0" u="none" strike="noStrike" kern="1200" dirty="0">
                <a:solidFill>
                  <a:schemeClr val="tx1"/>
                </a:solidFill>
                <a:effectLst/>
                <a:latin typeface="+mn-lt"/>
                <a:ea typeface="+mn-ea"/>
                <a:cs typeface="+mn-cs"/>
              </a:rPr>
              <a:t>AI needs to be tested differently than traditional software–it’s far more complex than hunting for bugs, syntactic or semantic errors in traditional code bases. The purpose is to push AI to identify gaps in its performance that could result in misuse, unfair outcomes, or dangerous edge cases.</a:t>
            </a:r>
            <a:endParaRPr lang="en-US" b="0" dirty="0">
              <a:effectLst/>
            </a:endParaRPr>
          </a:p>
          <a:p>
            <a:br>
              <a:rPr lang="en-US" dirty="0"/>
            </a:br>
            <a:endParaRPr lang="en-CA" dirty="0"/>
          </a:p>
        </p:txBody>
      </p:sp>
      <p:sp>
        <p:nvSpPr>
          <p:cNvPr id="4" name="Slide Number Placeholder 3"/>
          <p:cNvSpPr>
            <a:spLocks noGrp="1"/>
          </p:cNvSpPr>
          <p:nvPr>
            <p:ph type="sldNum" sz="quarter" idx="5"/>
          </p:nvPr>
        </p:nvSpPr>
        <p:spPr/>
        <p:txBody>
          <a:bodyPr/>
          <a:lstStyle/>
          <a:p>
            <a:fld id="{C8909573-747B-4C74-A65E-43E070B903EE}" type="slidenum">
              <a:rPr lang="en-CA" smtClean="0"/>
              <a:t>3</a:t>
            </a:fld>
            <a:endParaRPr lang="en-CA"/>
          </a:p>
        </p:txBody>
      </p:sp>
    </p:spTree>
    <p:extLst>
      <p:ext uri="{BB962C8B-B14F-4D97-AF65-F5344CB8AC3E}">
        <p14:creationId xmlns:p14="http://schemas.microsoft.com/office/powerpoint/2010/main" val="2822556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be misused in the following ways. It can be used to generate:</a:t>
            </a:r>
          </a:p>
          <a:p>
            <a:r>
              <a:rPr lang="en-US" dirty="0"/>
              <a:t> </a:t>
            </a:r>
          </a:p>
          <a:p>
            <a:r>
              <a:rPr lang="en-US" dirty="0"/>
              <a:t>● 	Harmful content: AI providing instructions for dangerous activities</a:t>
            </a:r>
          </a:p>
          <a:p>
            <a:r>
              <a:rPr lang="en-US" dirty="0"/>
              <a:t>● 	Unfair Outcomes: Content that validates stereotypes or biases </a:t>
            </a:r>
            <a:r>
              <a:rPr lang="en-US" dirty="0" err="1"/>
              <a:t>ie</a:t>
            </a:r>
            <a:r>
              <a:rPr lang="en-US" dirty="0"/>
              <a:t>. xenophobia, sexism</a:t>
            </a:r>
          </a:p>
          <a:p>
            <a:r>
              <a:rPr lang="en-US" dirty="0"/>
              <a:t>● 	Dangerous edge cases: Validating or encouraging harmful acts</a:t>
            </a:r>
          </a:p>
          <a:p>
            <a:r>
              <a:rPr lang="en-US" dirty="0"/>
              <a:t> </a:t>
            </a:r>
          </a:p>
          <a:p>
            <a:r>
              <a:rPr lang="en-US" dirty="0"/>
              <a:t>Red teaming helps AI companies meet regulatory and internal accountability and compliance standards. These standards, however, are always changing because AI ethics is a complex and every evolving topic.</a:t>
            </a:r>
          </a:p>
          <a:p>
            <a:endParaRPr lang="en-CA" dirty="0"/>
          </a:p>
        </p:txBody>
      </p:sp>
      <p:sp>
        <p:nvSpPr>
          <p:cNvPr id="4" name="Slide Number Placeholder 3"/>
          <p:cNvSpPr>
            <a:spLocks noGrp="1"/>
          </p:cNvSpPr>
          <p:nvPr>
            <p:ph type="sldNum" sz="quarter" idx="5"/>
          </p:nvPr>
        </p:nvSpPr>
        <p:spPr/>
        <p:txBody>
          <a:bodyPr/>
          <a:lstStyle/>
          <a:p>
            <a:fld id="{C8909573-747B-4C74-A65E-43E070B903EE}" type="slidenum">
              <a:rPr lang="en-CA" smtClean="0"/>
              <a:t>4</a:t>
            </a:fld>
            <a:endParaRPr lang="en-CA"/>
          </a:p>
        </p:txBody>
      </p:sp>
    </p:spTree>
    <p:extLst>
      <p:ext uri="{BB962C8B-B14F-4D97-AF65-F5344CB8AC3E}">
        <p14:creationId xmlns:p14="http://schemas.microsoft.com/office/powerpoint/2010/main" val="3862703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Red teaming focuses on how models behave. They focus on prompt engineering and how the model responds to a variety of prompts. The AI responses are monitored for misuse, hallucinations (making up information), and manipulation.</a:t>
            </a:r>
          </a:p>
          <a:p>
            <a:endParaRPr lang="en-US" dirty="0"/>
          </a:p>
          <a:p>
            <a:r>
              <a:rPr lang="en-US" dirty="0"/>
              <a:t>Examples</a:t>
            </a:r>
          </a:p>
          <a:p>
            <a:r>
              <a:rPr lang="en-US" dirty="0"/>
              <a:t>● 	Adversarial Prompts &amp; Prompt Injection: Crafting questions in such a way that tricks the AI into giving harmful, biased or incorrect responses.</a:t>
            </a:r>
          </a:p>
          <a:p>
            <a:r>
              <a:rPr lang="en-US" dirty="0"/>
              <a:t>● 	Data Poisoning: Deliberately corrupting the training data to reflect specific biases in responses</a:t>
            </a:r>
          </a:p>
          <a:p>
            <a:r>
              <a:rPr lang="en-US" dirty="0"/>
              <a:t>● 	Copyright Violation: Can the user get the AI to spit out large portions of books, articles and other copyrighted material?</a:t>
            </a:r>
          </a:p>
          <a:p>
            <a:r>
              <a:rPr lang="en-US" dirty="0"/>
              <a:t>● 	Context window: Does the AI start to forget its safety instructions when conversations exceed the context window? (ChatGPT Context Window: 32,000-token / Claude Context Window: 200K-token)</a:t>
            </a:r>
            <a:endParaRPr lang="en-CA" dirty="0"/>
          </a:p>
        </p:txBody>
      </p:sp>
      <p:sp>
        <p:nvSpPr>
          <p:cNvPr id="4" name="Slide Number Placeholder 3"/>
          <p:cNvSpPr>
            <a:spLocks noGrp="1"/>
          </p:cNvSpPr>
          <p:nvPr>
            <p:ph type="sldNum" sz="quarter" idx="5"/>
          </p:nvPr>
        </p:nvSpPr>
        <p:spPr/>
        <p:txBody>
          <a:bodyPr/>
          <a:lstStyle/>
          <a:p>
            <a:fld id="{C8909573-747B-4C74-A65E-43E070B903EE}" type="slidenum">
              <a:rPr lang="en-CA" smtClean="0"/>
              <a:t>5</a:t>
            </a:fld>
            <a:endParaRPr lang="en-CA"/>
          </a:p>
        </p:txBody>
      </p:sp>
    </p:spTree>
    <p:extLst>
      <p:ext uri="{BB962C8B-B14F-4D97-AF65-F5344CB8AC3E}">
        <p14:creationId xmlns:p14="http://schemas.microsoft.com/office/powerpoint/2010/main" val="3386450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development of LLM is moving at a very fast pace, and red teaming is crucial for the safety of users, the companies as well as meeting ethical guidelines for the development of AI.</a:t>
            </a:r>
            <a:endParaRPr lang="en-CA" dirty="0"/>
          </a:p>
        </p:txBody>
      </p:sp>
      <p:sp>
        <p:nvSpPr>
          <p:cNvPr id="4" name="Slide Number Placeholder 3"/>
          <p:cNvSpPr>
            <a:spLocks noGrp="1"/>
          </p:cNvSpPr>
          <p:nvPr>
            <p:ph type="sldNum" sz="quarter" idx="5"/>
          </p:nvPr>
        </p:nvSpPr>
        <p:spPr/>
        <p:txBody>
          <a:bodyPr/>
          <a:lstStyle/>
          <a:p>
            <a:fld id="{C8909573-747B-4C74-A65E-43E070B903EE}" type="slidenum">
              <a:rPr lang="en-CA" smtClean="0"/>
              <a:t>6</a:t>
            </a:fld>
            <a:endParaRPr lang="en-CA"/>
          </a:p>
        </p:txBody>
      </p:sp>
    </p:spTree>
    <p:extLst>
      <p:ext uri="{BB962C8B-B14F-4D97-AF65-F5344CB8AC3E}">
        <p14:creationId xmlns:p14="http://schemas.microsoft.com/office/powerpoint/2010/main" val="2124191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12/4/2025</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2" r:id="rId10"/>
    <p:sldLayoutId id="2147483853" r:id="rId11"/>
    <p:sldLayoutId id="2147483854" r:id="rId12"/>
    <p:sldLayoutId id="2147483855" r:id="rId13"/>
    <p:sldLayoutId id="2147483858" r:id="rId14"/>
    <p:sldLayoutId id="2147483859" r:id="rId15"/>
    <p:sldLayoutId id="2147483850" r:id="rId16"/>
    <p:sldLayoutId id="214748385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B7ED9-1E31-6033-E75D-FCD47DA39361}"/>
              </a:ext>
            </a:extLst>
          </p:cNvPr>
          <p:cNvSpPr>
            <a:spLocks noGrp="1"/>
          </p:cNvSpPr>
          <p:nvPr>
            <p:ph type="ctrTitle"/>
          </p:nvPr>
        </p:nvSpPr>
        <p:spPr/>
        <p:txBody>
          <a:bodyPr/>
          <a:lstStyle/>
          <a:p>
            <a:r>
              <a:rPr lang="en-CA" dirty="0"/>
              <a:t>AI Red Teaming</a:t>
            </a:r>
          </a:p>
        </p:txBody>
      </p:sp>
      <p:sp>
        <p:nvSpPr>
          <p:cNvPr id="3" name="Subtitle 2">
            <a:extLst>
              <a:ext uri="{FF2B5EF4-FFF2-40B4-BE49-F238E27FC236}">
                <a16:creationId xmlns:a16="http://schemas.microsoft.com/office/drawing/2014/main" id="{EB40511D-793C-CB93-1C92-51F79311B4CC}"/>
              </a:ext>
            </a:extLst>
          </p:cNvPr>
          <p:cNvSpPr>
            <a:spLocks noGrp="1"/>
          </p:cNvSpPr>
          <p:nvPr>
            <p:ph type="subTitle" idx="1"/>
          </p:nvPr>
        </p:nvSpPr>
        <p:spPr/>
        <p:txBody>
          <a:bodyPr/>
          <a:lstStyle/>
          <a:p>
            <a:r>
              <a:rPr lang="en-CA" dirty="0"/>
              <a:t>Ada Høeg</a:t>
            </a:r>
          </a:p>
          <a:p>
            <a:r>
              <a:rPr lang="en-CA" dirty="0"/>
              <a:t>Soroosh Kazemi Matin</a:t>
            </a:r>
          </a:p>
        </p:txBody>
      </p:sp>
    </p:spTree>
    <p:extLst>
      <p:ext uri="{BB962C8B-B14F-4D97-AF65-F5344CB8AC3E}">
        <p14:creationId xmlns:p14="http://schemas.microsoft.com/office/powerpoint/2010/main" val="2732465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52843-8946-1209-92FF-6D115FDC6BD4}"/>
              </a:ext>
            </a:extLst>
          </p:cNvPr>
          <p:cNvSpPr>
            <a:spLocks noGrp="1"/>
          </p:cNvSpPr>
          <p:nvPr>
            <p:ph type="title"/>
          </p:nvPr>
        </p:nvSpPr>
        <p:spPr/>
        <p:txBody>
          <a:bodyPr/>
          <a:lstStyle/>
          <a:p>
            <a:r>
              <a:rPr lang="en-CA" dirty="0"/>
              <a:t>The Most Popular LLMs</a:t>
            </a:r>
          </a:p>
        </p:txBody>
      </p:sp>
      <p:sp>
        <p:nvSpPr>
          <p:cNvPr id="3" name="Content Placeholder 2">
            <a:extLst>
              <a:ext uri="{FF2B5EF4-FFF2-40B4-BE49-F238E27FC236}">
                <a16:creationId xmlns:a16="http://schemas.microsoft.com/office/drawing/2014/main" id="{94407734-B156-46CC-F74F-B9F3772CEF5D}"/>
              </a:ext>
            </a:extLst>
          </p:cNvPr>
          <p:cNvSpPr>
            <a:spLocks noGrp="1"/>
          </p:cNvSpPr>
          <p:nvPr>
            <p:ph idx="1"/>
          </p:nvPr>
        </p:nvSpPr>
        <p:spPr/>
        <p:txBody>
          <a:bodyPr/>
          <a:lstStyle/>
          <a:p>
            <a:r>
              <a:rPr lang="en-CA" dirty="0"/>
              <a:t>ChatGPT by OpenAI (RLHF)</a:t>
            </a:r>
          </a:p>
          <a:p>
            <a:r>
              <a:rPr lang="en-CA" dirty="0"/>
              <a:t>Claude by Anthropic (Constitutional + RLHF)</a:t>
            </a:r>
          </a:p>
          <a:p>
            <a:r>
              <a:rPr lang="en-CA" dirty="0"/>
              <a:t>Gemini by Google (RLHF)</a:t>
            </a:r>
          </a:p>
          <a:p>
            <a:r>
              <a:rPr lang="en-CA" dirty="0"/>
              <a:t>Grok by </a:t>
            </a:r>
            <a:r>
              <a:rPr lang="en-CA" dirty="0" err="1"/>
              <a:t>xAI</a:t>
            </a:r>
            <a:r>
              <a:rPr lang="en-CA" dirty="0"/>
              <a:t> (RLHF)</a:t>
            </a:r>
          </a:p>
          <a:p>
            <a:r>
              <a:rPr lang="en-CA" dirty="0" err="1"/>
              <a:t>Deepseek</a:t>
            </a:r>
            <a:r>
              <a:rPr lang="en-CA" dirty="0"/>
              <a:t> by Hangzhou </a:t>
            </a:r>
            <a:r>
              <a:rPr lang="en-CA" dirty="0" err="1"/>
              <a:t>Deepseek</a:t>
            </a:r>
            <a:r>
              <a:rPr lang="en-CA" dirty="0"/>
              <a:t> (RLHF)</a:t>
            </a:r>
          </a:p>
        </p:txBody>
      </p:sp>
    </p:spTree>
    <p:extLst>
      <p:ext uri="{BB962C8B-B14F-4D97-AF65-F5344CB8AC3E}">
        <p14:creationId xmlns:p14="http://schemas.microsoft.com/office/powerpoint/2010/main" val="1403489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E6201-D0D5-AB69-6F9B-FB44DD33005F}"/>
              </a:ext>
            </a:extLst>
          </p:cNvPr>
          <p:cNvSpPr>
            <a:spLocks noGrp="1"/>
          </p:cNvSpPr>
          <p:nvPr>
            <p:ph type="title"/>
          </p:nvPr>
        </p:nvSpPr>
        <p:spPr/>
        <p:txBody>
          <a:bodyPr/>
          <a:lstStyle/>
          <a:p>
            <a:r>
              <a:rPr lang="en-CA" dirty="0"/>
              <a:t>What is Red Teaming?</a:t>
            </a:r>
          </a:p>
        </p:txBody>
      </p:sp>
      <p:sp>
        <p:nvSpPr>
          <p:cNvPr id="3" name="Content Placeholder 2">
            <a:extLst>
              <a:ext uri="{FF2B5EF4-FFF2-40B4-BE49-F238E27FC236}">
                <a16:creationId xmlns:a16="http://schemas.microsoft.com/office/drawing/2014/main" id="{D1E0EF9C-F625-AC27-3044-367C1733970E}"/>
              </a:ext>
            </a:extLst>
          </p:cNvPr>
          <p:cNvSpPr>
            <a:spLocks noGrp="1"/>
          </p:cNvSpPr>
          <p:nvPr>
            <p:ph idx="1"/>
          </p:nvPr>
        </p:nvSpPr>
        <p:spPr/>
        <p:txBody>
          <a:bodyPr/>
          <a:lstStyle/>
          <a:p>
            <a:r>
              <a:rPr lang="en-CA" dirty="0"/>
              <a:t>Adversarial testing used to:</a:t>
            </a:r>
          </a:p>
          <a:p>
            <a:pPr lvl="1"/>
            <a:r>
              <a:rPr lang="en-CA" dirty="0"/>
              <a:t>Emulate, mimic, predict and expose flaws in models, training data or outputs</a:t>
            </a:r>
          </a:p>
          <a:p>
            <a:pPr lvl="1"/>
            <a:r>
              <a:rPr lang="en-CA" dirty="0"/>
              <a:t>Test the behaviour of curious users who may want to test the boundaries of AI</a:t>
            </a:r>
          </a:p>
          <a:p>
            <a:pPr lvl="1"/>
            <a:r>
              <a:rPr lang="en-CA" dirty="0"/>
              <a:t>Push AI to identify gaps in its performance that could result in misuse, unfair outcomes or dangerous edge cases</a:t>
            </a:r>
          </a:p>
          <a:p>
            <a:pPr lvl="1"/>
            <a:endParaRPr lang="en-CA" dirty="0"/>
          </a:p>
        </p:txBody>
      </p:sp>
    </p:spTree>
    <p:extLst>
      <p:ext uri="{BB962C8B-B14F-4D97-AF65-F5344CB8AC3E}">
        <p14:creationId xmlns:p14="http://schemas.microsoft.com/office/powerpoint/2010/main" val="200439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E0B15-5DDE-1425-A1FF-89F352155A6B}"/>
              </a:ext>
            </a:extLst>
          </p:cNvPr>
          <p:cNvSpPr>
            <a:spLocks noGrp="1"/>
          </p:cNvSpPr>
          <p:nvPr>
            <p:ph type="title"/>
          </p:nvPr>
        </p:nvSpPr>
        <p:spPr/>
        <p:txBody>
          <a:bodyPr/>
          <a:lstStyle/>
          <a:p>
            <a:r>
              <a:rPr lang="en-CA" dirty="0"/>
              <a:t>Problematic Responses</a:t>
            </a:r>
          </a:p>
        </p:txBody>
      </p:sp>
      <p:sp>
        <p:nvSpPr>
          <p:cNvPr id="3" name="Content Placeholder 2">
            <a:extLst>
              <a:ext uri="{FF2B5EF4-FFF2-40B4-BE49-F238E27FC236}">
                <a16:creationId xmlns:a16="http://schemas.microsoft.com/office/drawing/2014/main" id="{A0ABEAE7-740B-A039-8426-5E74721D0506}"/>
              </a:ext>
            </a:extLst>
          </p:cNvPr>
          <p:cNvSpPr>
            <a:spLocks noGrp="1"/>
          </p:cNvSpPr>
          <p:nvPr>
            <p:ph idx="1"/>
          </p:nvPr>
        </p:nvSpPr>
        <p:spPr/>
        <p:txBody>
          <a:bodyPr/>
          <a:lstStyle/>
          <a:p>
            <a:r>
              <a:rPr lang="en-CA" b="1" dirty="0"/>
              <a:t>Harmful Content: </a:t>
            </a:r>
            <a:r>
              <a:rPr lang="en-CA" dirty="0"/>
              <a:t>AI providing instructions for dangerous activities</a:t>
            </a:r>
          </a:p>
          <a:p>
            <a:r>
              <a:rPr lang="en-CA" b="1" dirty="0"/>
              <a:t>Unfair Outcomes: </a:t>
            </a:r>
            <a:r>
              <a:rPr lang="en-CA" dirty="0"/>
              <a:t>Content that validates stereotypes </a:t>
            </a:r>
            <a:r>
              <a:rPr lang="en-CA" dirty="0" err="1"/>
              <a:t>ie</a:t>
            </a:r>
            <a:r>
              <a:rPr lang="en-CA" dirty="0"/>
              <a:t>. Xenophobia, sexism</a:t>
            </a:r>
          </a:p>
          <a:p>
            <a:r>
              <a:rPr lang="en-CA" b="1" dirty="0"/>
              <a:t>Dangerous Edge Cases: </a:t>
            </a:r>
            <a:r>
              <a:rPr lang="en-CA" dirty="0"/>
              <a:t>Validating or encouraging harmful acts</a:t>
            </a:r>
          </a:p>
        </p:txBody>
      </p:sp>
    </p:spTree>
    <p:extLst>
      <p:ext uri="{BB962C8B-B14F-4D97-AF65-F5344CB8AC3E}">
        <p14:creationId xmlns:p14="http://schemas.microsoft.com/office/powerpoint/2010/main" val="89482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B673-32B5-8C44-3E5A-4796D69E23C6}"/>
              </a:ext>
            </a:extLst>
          </p:cNvPr>
          <p:cNvSpPr>
            <a:spLocks noGrp="1"/>
          </p:cNvSpPr>
          <p:nvPr>
            <p:ph type="title"/>
          </p:nvPr>
        </p:nvSpPr>
        <p:spPr/>
        <p:txBody>
          <a:bodyPr/>
          <a:lstStyle/>
          <a:p>
            <a:r>
              <a:rPr lang="en-CA" dirty="0"/>
              <a:t>AI Misuse</a:t>
            </a:r>
          </a:p>
        </p:txBody>
      </p:sp>
      <p:sp>
        <p:nvSpPr>
          <p:cNvPr id="3" name="Content Placeholder 2">
            <a:extLst>
              <a:ext uri="{FF2B5EF4-FFF2-40B4-BE49-F238E27FC236}">
                <a16:creationId xmlns:a16="http://schemas.microsoft.com/office/drawing/2014/main" id="{4A4C14B2-9E6F-3A7D-9D01-6C17E1B743A3}"/>
              </a:ext>
            </a:extLst>
          </p:cNvPr>
          <p:cNvSpPr>
            <a:spLocks noGrp="1"/>
          </p:cNvSpPr>
          <p:nvPr>
            <p:ph idx="1"/>
          </p:nvPr>
        </p:nvSpPr>
        <p:spPr/>
        <p:txBody>
          <a:bodyPr/>
          <a:lstStyle/>
          <a:p>
            <a:r>
              <a:rPr lang="en-US" dirty="0"/>
              <a:t>Adversarial Prompts &amp; Prompt Injection: Crafting questions in such a way that tricks the AI into giving harmful, biased or incorrect responses.</a:t>
            </a:r>
          </a:p>
          <a:p>
            <a:r>
              <a:rPr lang="en-US" dirty="0"/>
              <a:t>Data Poisoning: Deliberately corrupting the training data to reflect specific biases in responses</a:t>
            </a:r>
          </a:p>
          <a:p>
            <a:r>
              <a:rPr lang="en-US" dirty="0"/>
              <a:t>Copyright Violation: Can the user get the AI to spit out large portions of books, articles and other copyrighted material?</a:t>
            </a:r>
          </a:p>
          <a:p>
            <a:r>
              <a:rPr lang="en-US" dirty="0"/>
              <a:t>Context window: Does the AI start to forget its safety instructions when conversations exceed the context window? </a:t>
            </a:r>
            <a:r>
              <a:rPr lang="en-US" dirty="0">
                <a:effectLst/>
              </a:rPr>
              <a:t>(ChatGPT Context Window: 32,000-token / Claude Context Window: 200K-token)</a:t>
            </a:r>
            <a:endParaRPr lang="en-CA" dirty="0"/>
          </a:p>
        </p:txBody>
      </p:sp>
    </p:spTree>
    <p:extLst>
      <p:ext uri="{BB962C8B-B14F-4D97-AF65-F5344CB8AC3E}">
        <p14:creationId xmlns:p14="http://schemas.microsoft.com/office/powerpoint/2010/main" val="3280351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931AD-1833-8A78-AE2C-424817D06803}"/>
              </a:ext>
            </a:extLst>
          </p:cNvPr>
          <p:cNvSpPr>
            <a:spLocks noGrp="1"/>
          </p:cNvSpPr>
          <p:nvPr>
            <p:ph type="title"/>
          </p:nvPr>
        </p:nvSpPr>
        <p:spPr/>
        <p:txBody>
          <a:bodyPr/>
          <a:lstStyle/>
          <a:p>
            <a:r>
              <a:rPr lang="en-CA" dirty="0"/>
              <a:t>Thank You!</a:t>
            </a:r>
          </a:p>
        </p:txBody>
      </p:sp>
      <p:sp>
        <p:nvSpPr>
          <p:cNvPr id="3" name="Content Placeholder 2">
            <a:extLst>
              <a:ext uri="{FF2B5EF4-FFF2-40B4-BE49-F238E27FC236}">
                <a16:creationId xmlns:a16="http://schemas.microsoft.com/office/drawing/2014/main" id="{3CBD7BD2-0A6B-04C7-C423-578A60448289}"/>
              </a:ext>
            </a:extLst>
          </p:cNvPr>
          <p:cNvSpPr>
            <a:spLocks noGrp="1"/>
          </p:cNvSpPr>
          <p:nvPr>
            <p:ph idx="1"/>
          </p:nvPr>
        </p:nvSpPr>
        <p:spPr/>
        <p:txBody>
          <a:bodyPr/>
          <a:lstStyle/>
          <a:p>
            <a:r>
              <a:rPr lang="en-CA" dirty="0"/>
              <a:t>Thanks for your time! </a:t>
            </a:r>
            <a:r>
              <a:rPr lang="en-CA" dirty="0">
                <a:sym typeface="Wingdings" panose="05000000000000000000" pitchFamily="2" charset="2"/>
              </a:rPr>
              <a:t></a:t>
            </a:r>
            <a:endParaRPr lang="en-CA" dirty="0"/>
          </a:p>
        </p:txBody>
      </p:sp>
    </p:spTree>
    <p:extLst>
      <p:ext uri="{BB962C8B-B14F-4D97-AF65-F5344CB8AC3E}">
        <p14:creationId xmlns:p14="http://schemas.microsoft.com/office/powerpoint/2010/main" val="41192940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18</TotalTime>
  <Words>736</Words>
  <Application>Microsoft Office PowerPoint</Application>
  <PresentationFormat>Widescreen</PresentationFormat>
  <Paragraphs>58</Paragraphs>
  <Slides>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Calisto MT</vt:lpstr>
      <vt:lpstr>Wingdings</vt:lpstr>
      <vt:lpstr>Wingdings 2</vt:lpstr>
      <vt:lpstr>Slate</vt:lpstr>
      <vt:lpstr>AI Red Teaming</vt:lpstr>
      <vt:lpstr>The Most Popular LLMs</vt:lpstr>
      <vt:lpstr>What is Red Teaming?</vt:lpstr>
      <vt:lpstr>Problematic Responses</vt:lpstr>
      <vt:lpstr>AI Misuse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 Hoeg</dc:creator>
  <cp:lastModifiedBy>Ada Hoeg</cp:lastModifiedBy>
  <cp:revision>1</cp:revision>
  <dcterms:created xsi:type="dcterms:W3CDTF">2025-12-04T19:31:00Z</dcterms:created>
  <dcterms:modified xsi:type="dcterms:W3CDTF">2025-12-04T19:49:13Z</dcterms:modified>
</cp:coreProperties>
</file>